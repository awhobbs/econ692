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4" roundtripDataSignature="AMtx7mjNLYyYAAtq0LAYnPj0Kw/sgRfM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Data Sources</a:t>
            </a:r>
            <a:endParaRPr/>
          </a:p>
        </p:txBody>
      </p:sp>
      <p:sp>
        <p:nvSpPr>
          <p:cNvPr id="79" name="Google Shape;7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Today’s Agenda</a:t>
            </a:r>
            <a:endParaRPr/>
          </a:p>
        </p:txBody>
      </p:sp>
      <p:sp>
        <p:nvSpPr>
          <p:cNvPr id="85" name="Google Shape;85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1" marL="4572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Draft Proposals/ Proposal Peer Reviews</a:t>
            </a:r>
            <a:endParaRPr/>
          </a:p>
          <a:p>
            <a:pPr indent="-34290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Causal Inference: Adjusting for Observables</a:t>
            </a:r>
            <a:endParaRPr/>
          </a:p>
          <a:p>
            <a:pPr indent="-34290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Clarification on ‘economics’ requirement</a:t>
            </a:r>
            <a:endParaRPr/>
          </a:p>
          <a:p>
            <a:pPr indent="-34290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Finding Data</a:t>
            </a:r>
            <a:endParaRPr/>
          </a:p>
          <a:p>
            <a:pPr indent="-34290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Evaluating Data</a:t>
            </a:r>
            <a:endParaRPr/>
          </a:p>
          <a:p>
            <a:pPr indent="-34290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Working time</a:t>
            </a:r>
            <a:endParaRPr/>
          </a:p>
          <a:p>
            <a:pPr indent="-342900" lvl="2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Download a dataset for your project</a:t>
            </a:r>
            <a:endParaRPr/>
          </a:p>
          <a:p>
            <a:pPr indent="-342900" lvl="2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Verify that it has the right info</a:t>
            </a:r>
            <a:endParaRPr/>
          </a:p>
          <a:p>
            <a:pPr indent="-342900" lvl="2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Check the size</a:t>
            </a:r>
            <a:endParaRPr/>
          </a:p>
          <a:p>
            <a:pPr indent="-342900" lvl="2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Run an initial analysis</a:t>
            </a:r>
            <a:endParaRPr/>
          </a:p>
          <a:p>
            <a:pPr indent="-342900" lvl="2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Share with a group of peers</a:t>
            </a:r>
            <a:endParaRPr/>
          </a:p>
          <a:p>
            <a:pPr indent="-342900" lvl="2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Record all this in Canvas survey</a:t>
            </a:r>
            <a:endParaRPr/>
          </a:p>
          <a:p>
            <a:pPr indent="-76200" lvl="1" marL="228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95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2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Adjusting for Observables</a:t>
            </a:r>
            <a:endParaRPr/>
          </a:p>
        </p:txBody>
      </p:sp>
      <p:sp>
        <p:nvSpPr>
          <p:cNvPr id="91" name="Google Shape;9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Subclassification (Cochran 1968)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Nearest Neighbor Matching (Abadie and Imbens 2006, 2008)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Propensity Score (Rosenbaum and Rubin 1973)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Multivariate Regression (Control Variables)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Identification under independence</a:t>
            </a:r>
            <a:endParaRPr/>
          </a:p>
        </p:txBody>
      </p:sp>
      <p:sp>
        <p:nvSpPr>
          <p:cNvPr id="97" name="Google Shape;97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Conditional Independence</a:t>
            </a:r>
            <a:endParaRPr/>
          </a:p>
        </p:txBody>
      </p:sp>
      <p:sp>
        <p:nvSpPr>
          <p:cNvPr id="103" name="Google Shape;103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Subclassification Estimator</a:t>
            </a:r>
            <a:endParaRPr/>
          </a:p>
        </p:txBody>
      </p:sp>
      <p:sp>
        <p:nvSpPr>
          <p:cNvPr id="109" name="Google Shape;109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-613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Example: Israeli COVID Data</a:t>
            </a:r>
            <a:endParaRPr/>
          </a:p>
        </p:txBody>
      </p:sp>
      <p:sp>
        <p:nvSpPr>
          <p:cNvPr id="115" name="Google Shape;115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Nearly 60% of new patients hospitalized for COVID as of August 15, 2021 are vaccinated.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Does this mean vaccines are ineffective?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Israeli COVID Data</a:t>
            </a:r>
            <a:endParaRPr/>
          </a:p>
        </p:txBody>
      </p:sp>
      <p:sp>
        <p:nvSpPr>
          <p:cNvPr id="121" name="Google Shape;121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Several problems: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Vaccination rates are high. (Base rate fallacy)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Older people are especially likely to be vaccinated, younger people less so. (Selection)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Adjusting for Vaccination Rates</a:t>
            </a:r>
            <a:endParaRPr/>
          </a:p>
        </p:txBody>
      </p:sp>
      <p:sp>
        <p:nvSpPr>
          <p:cNvPr id="127" name="Google Shape;127;p27"/>
          <p:cNvSpPr txBox="1"/>
          <p:nvPr>
            <p:ph idx="1" type="body"/>
          </p:nvPr>
        </p:nvSpPr>
        <p:spPr>
          <a:xfrm>
            <a:off x="838200" y="1825625"/>
            <a:ext cx="10515600" cy="112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Suppose vaccines were randomly assigned, then we could calculate a difference in means:</a:t>
            </a:r>
            <a:endParaRPr/>
          </a:p>
        </p:txBody>
      </p:sp>
      <p:pic>
        <p:nvPicPr>
          <p:cNvPr id="128" name="Google Shape;12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000" y="2947737"/>
            <a:ext cx="9398000" cy="264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Selection Bias</a:t>
            </a:r>
            <a:endParaRPr/>
          </a:p>
        </p:txBody>
      </p:sp>
      <p:sp>
        <p:nvSpPr>
          <p:cNvPr id="134" name="Google Shape;134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But selection bias still remains! What to do?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Subclassification</a:t>
            </a:r>
            <a:endParaRPr/>
          </a:p>
        </p:txBody>
      </p:sp>
      <p:sp>
        <p:nvSpPr>
          <p:cNvPr id="140" name="Google Shape;140;p29"/>
          <p:cNvSpPr txBox="1"/>
          <p:nvPr>
            <p:ph idx="1" type="body"/>
          </p:nvPr>
        </p:nvSpPr>
        <p:spPr>
          <a:xfrm>
            <a:off x="838200" y="1825625"/>
            <a:ext cx="10515600" cy="905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Let’s look at two big age groups:</a:t>
            </a:r>
            <a:endParaRPr/>
          </a:p>
        </p:txBody>
      </p:sp>
      <p:pic>
        <p:nvPicPr>
          <p:cNvPr id="141" name="Google Shape;14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000" y="2600827"/>
            <a:ext cx="939800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More subclassification</a:t>
            </a:r>
            <a:endParaRPr/>
          </a:p>
        </p:txBody>
      </p:sp>
      <p:sp>
        <p:nvSpPr>
          <p:cNvPr id="147" name="Google Shape;147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Breaking it down even further</a:t>
            </a:r>
            <a:endParaRPr/>
          </a:p>
        </p:txBody>
      </p:sp>
      <p:pic>
        <p:nvPicPr>
          <p:cNvPr id="148" name="Google Shape;14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000" y="2580773"/>
            <a:ext cx="93980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Other methods</a:t>
            </a:r>
            <a:endParaRPr/>
          </a:p>
        </p:txBody>
      </p:sp>
      <p:sp>
        <p:nvSpPr>
          <p:cNvPr id="154" name="Google Shape;154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lang="en-US"/>
              <a:t>Subclassification is often not feasible with lots of covariates.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lang="en-US"/>
              <a:t>Options: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81081"/>
              <a:buChar char="•"/>
            </a:pPr>
            <a:r>
              <a:rPr lang="en-US"/>
              <a:t>Control for X. Works well if we believe that a linear model is accurate.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81081"/>
              <a:buChar char="•"/>
            </a:pPr>
            <a:r>
              <a:rPr lang="en-US"/>
              <a:t>Nearest neighbor matching: impute the missing potential outcome of each treatment unit by using the observed outcome from that outcomes nearest neighbor j (or an average of several neighbors)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97297"/>
              <a:buChar char="•"/>
            </a:pPr>
            <a:r>
              <a:rPr lang="en-US"/>
              <a:t>Problem: how to define ‘nearness’? Several options in practice.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81081"/>
              <a:buChar char="•"/>
            </a:pPr>
            <a:r>
              <a:rPr lang="en-US"/>
              <a:t>Propensity score matching calculates a probability of treatment for each unit, and we compare with units with similar estimates probabilities of treatment. Adjust for propensity score instead of X.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lang="en-US"/>
              <a:t>Remember: NONE of these methods address selection on unobservables, which economists frequently worry about.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Important Clarification</a:t>
            </a:r>
            <a:endParaRPr/>
          </a:p>
        </p:txBody>
      </p:sp>
      <p:sp>
        <p:nvSpPr>
          <p:cNvPr id="160" name="Google Shape;160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you’re relying on econometrics for the ‘economics’ element of your project, make sure you include causal analysis.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 don’t need an A/B test for causality – other options such as instrumental variables, regression discontinuity, matching, may work.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However, simple OLS regression is unlikely to cut it UNLESS you have randomly assigned treatment.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Finding Good Data</a:t>
            </a:r>
            <a:endParaRPr/>
          </a:p>
        </p:txBody>
      </p:sp>
      <p:sp>
        <p:nvSpPr>
          <p:cNvPr id="166" name="Google Shape;166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are we looking for?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reliable source: government, trusted company, etc.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large sample size.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Ideally, we want it to be </a:t>
            </a:r>
            <a:r>
              <a:rPr i="1" lang="en-US"/>
              <a:t>representative </a:t>
            </a:r>
            <a:r>
              <a:rPr lang="en-US"/>
              <a:t>of something.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Common pitfalls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data says it has what we want, but the values are missing.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documentation is awful or nonexistent.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dataset is not large enough (especially for ML-type approaches).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Evaluating Data</a:t>
            </a:r>
            <a:endParaRPr/>
          </a:p>
        </p:txBody>
      </p:sp>
      <p:sp>
        <p:nvSpPr>
          <p:cNvPr id="172" name="Google Shape;172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Download the dataset ASAP!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Descriptions can be misleading.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Unexpected challenges ALWAYS arise.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Are the data you’re interested in: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Appropriately linked to other data? Or linkable?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Non-missing?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Today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Start w/ a list of datasets.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Download one.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Make some scatterplots/ histograms. Seem sensible?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Share a simple interesting graphic or table.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Bureau of Labor Statistics</a:t>
            </a:r>
            <a:endParaRPr/>
          </a:p>
        </p:txBody>
      </p:sp>
      <p:sp>
        <p:nvSpPr>
          <p:cNvPr id="178" name="Google Shape;178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Consumer price indices (inflation).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Unemployment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Wage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Productivity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More specific price indices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More!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Living Standards Measurement Surveys</a:t>
            </a:r>
            <a:endParaRPr/>
          </a:p>
        </p:txBody>
      </p:sp>
      <p:sp>
        <p:nvSpPr>
          <p:cNvPr id="184" name="Google Shape;184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Detailed household data from around the world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Food consumption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Income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Wealth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Crop production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Women empowerment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More!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https://www.worldbank.org/en/programs/lsms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Bloomberg</a:t>
            </a:r>
            <a:endParaRPr/>
          </a:p>
        </p:txBody>
      </p:sp>
      <p:sp>
        <p:nvSpPr>
          <p:cNvPr id="190" name="Google Shape;190;p8"/>
          <p:cNvSpPr txBox="1"/>
          <p:nvPr>
            <p:ph idx="1" type="body"/>
          </p:nvPr>
        </p:nvSpPr>
        <p:spPr>
          <a:xfrm>
            <a:off x="838200" y="1825625"/>
            <a:ext cx="5410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Bloomberg has very detailed financial data on most anything you could imagine.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USF has a Bloomberg Lab – let me know if you’d be interested in gaining access and I’ll try to find a way.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today, focus on alternatives, since this won’t be easy to find. Google/ Yahoo Finance could be good places to start.</a:t>
            </a:r>
            <a:endParaRPr/>
          </a:p>
        </p:txBody>
      </p:sp>
      <p:pic>
        <p:nvPicPr>
          <p:cNvPr descr="Image result for bloomberg terminal" id="191" name="Google Shape;19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4636" y="1910176"/>
            <a:ext cx="4749164" cy="3561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2021-02-10T21:06:49Z</dcterms:created>
  <dc:creator>Andrew Wray Hobbs</dc:creator>
</cp:coreProperties>
</file>