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1" roundtripDataSignature="AMtx7mjxgUK5Q5R4cYyXODnmpOBwzugl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E519245-87DC-4FA7-95CE-F0DFC5211AFD}">
  <a:tblStyle styleId="{CE519245-87DC-4FA7-95CE-F0DFC5211A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1e9c7ec63d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1e9c7ec63d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11e9c7ec63d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e9c7ec63d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11e9c7ec63d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11e9c7ec63d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Incorporating Feedback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1524000" y="35099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Causal Inference: Synthetic Controls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Incorporating Data Analysis Feedback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Synthetic Controls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are synthetic controls?</a:t>
            </a:r>
            <a:endParaRPr/>
          </a:p>
        </p:txBody>
      </p:sp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Optimally weight non-treated group to form a `control’ for the treatment group.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call this control a `synthetic unit.’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estimator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calculate the treatment effect as (treatment group j=1):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But how to determine weights?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1200" y="2647950"/>
            <a:ext cx="31496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Choosing weights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4" r="-843" t="-2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An Example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838201" y="1825625"/>
            <a:ext cx="486476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California passed Prop 99 in 1988. Increased cigarette taxes, anti-smoking media campaigns, and anti-tobacco ads/ projects.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Can we estimate the causal effet of the program?</a:t>
            </a:r>
            <a:endParaRPr/>
          </a:p>
        </p:txBody>
      </p:sp>
      <p:pic>
        <p:nvPicPr>
          <p:cNvPr id="128" name="Google Shape;12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18747" y="1825625"/>
            <a:ext cx="6573253" cy="43821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Demonstrating good weights</a:t>
            </a:r>
            <a:endParaRPr/>
          </a:p>
        </p:txBody>
      </p:sp>
      <p:sp>
        <p:nvSpPr>
          <p:cNvPr id="134" name="Google Shape;134;p8"/>
          <p:cNvSpPr txBox="1"/>
          <p:nvPr>
            <p:ph idx="1" type="body"/>
          </p:nvPr>
        </p:nvSpPr>
        <p:spPr>
          <a:xfrm>
            <a:off x="838200" y="1825625"/>
            <a:ext cx="4660232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After optimal weighting, the pre-treatment time path for CA looks almost identical to the rest of the country! But then they diverge.</a:t>
            </a:r>
            <a:endParaRPr/>
          </a:p>
        </p:txBody>
      </p:sp>
      <p:pic>
        <p:nvPicPr>
          <p:cNvPr id="135" name="Google Shape;13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6084" y="1947111"/>
            <a:ext cx="6547184" cy="43647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Balance Tables</a:t>
            </a:r>
            <a:endParaRPr/>
          </a:p>
        </p:txBody>
      </p:sp>
      <p:sp>
        <p:nvSpPr>
          <p:cNvPr id="141" name="Google Shape;141;p9"/>
          <p:cNvSpPr txBox="1"/>
          <p:nvPr>
            <p:ph idx="1" type="body"/>
          </p:nvPr>
        </p:nvSpPr>
        <p:spPr>
          <a:xfrm>
            <a:off x="838200" y="1825625"/>
            <a:ext cx="518962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We can also check whether the synthetic control matches the actual control states with a balance table.</a:t>
            </a:r>
            <a:endParaRPr/>
          </a:p>
        </p:txBody>
      </p:sp>
      <p:graphicFrame>
        <p:nvGraphicFramePr>
          <p:cNvPr id="142" name="Google Shape;142;p9"/>
          <p:cNvGraphicFramePr/>
          <p:nvPr/>
        </p:nvGraphicFramePr>
        <p:xfrm>
          <a:off x="6027821" y="17115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{CE519245-87DC-4FA7-95CE-F0DFC5211AFD}</a:tableStyleId>
              </a:tblPr>
              <a:tblGrid>
                <a:gridCol w="1396225"/>
                <a:gridCol w="1396225"/>
                <a:gridCol w="1396225"/>
                <a:gridCol w="1396225"/>
              </a:tblGrid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 u="none" cap="none" strike="noStrike"/>
                        <a:t>Variables</a:t>
                      </a:r>
                      <a:endParaRPr sz="1500" u="none" cap="none" strike="noStrike"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Real California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Synthetic Calif.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Avg. of 38 Control States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Ln(GDP per capita)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10.08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9.86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9.86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Percent aged 15–24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17.40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17.40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17.29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Retail price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89.42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89.41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87.27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77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Beer consumption per capita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24.28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24.20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23.75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Cigarette sales per capita 1988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90.10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91.62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114.20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Cigarette sales per capita 1980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120.20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120.43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136.58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Cigarette sales per capita 1975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127.10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126.99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u="none" cap="none" strike="noStrike"/>
                        <a:t>132.81</a:t>
                      </a:r>
                      <a:endParaRPr/>
                    </a:p>
                  </a:txBody>
                  <a:tcPr marT="38850" marB="38850" marR="77700" marL="777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EE2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picture #1</a:t>
            </a:r>
            <a:endParaRPr/>
          </a:p>
        </p:txBody>
      </p:sp>
      <p:sp>
        <p:nvSpPr>
          <p:cNvPr id="148" name="Google Shape;148;p10"/>
          <p:cNvSpPr txBox="1"/>
          <p:nvPr>
            <p:ph idx="1" type="body"/>
          </p:nvPr>
        </p:nvSpPr>
        <p:spPr>
          <a:xfrm>
            <a:off x="838200" y="1825625"/>
            <a:ext cx="508133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Depicts just the difference between treatment and (synthetic) control.</a:t>
            </a:r>
            <a:endParaRPr/>
          </a:p>
        </p:txBody>
      </p:sp>
      <p:pic>
        <p:nvPicPr>
          <p:cNvPr id="149" name="Google Shape;1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1575" y="1825625"/>
            <a:ext cx="6323724" cy="4215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Key Picture #2</a:t>
            </a:r>
            <a:endParaRPr/>
          </a:p>
        </p:txBody>
      </p:sp>
      <p:sp>
        <p:nvSpPr>
          <p:cNvPr id="155" name="Google Shape;155;p11"/>
          <p:cNvSpPr txBox="1"/>
          <p:nvPr>
            <p:ph idx="1" type="body"/>
          </p:nvPr>
        </p:nvSpPr>
        <p:spPr>
          <a:xfrm>
            <a:off x="838200" y="1825625"/>
            <a:ext cx="524977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Distribution of placebo treatment effects.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From the graph, you can see California is an outlier – this is also more or less how p-values are calculated.</a:t>
            </a:r>
            <a:endParaRPr/>
          </a:p>
        </p:txBody>
      </p:sp>
      <p:pic>
        <p:nvPicPr>
          <p:cNvPr id="156" name="Google Shape;15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346" y="2006976"/>
            <a:ext cx="5982953" cy="3988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e9c7ec63d_0_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Proposal Feedback</a:t>
            </a:r>
            <a:endParaRPr/>
          </a:p>
        </p:txBody>
      </p:sp>
      <p:sp>
        <p:nvSpPr>
          <p:cNvPr id="163" name="Google Shape;163;g11e9c7ec63d_0_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e9c7ec63d_0_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Peer Feedback</a:t>
            </a:r>
            <a:endParaRPr/>
          </a:p>
        </p:txBody>
      </p:sp>
      <p:sp>
        <p:nvSpPr>
          <p:cNvPr id="170" name="Google Shape;170;g11e9c7ec63d_0_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If you haven’t yet, please take this time to provide feedback to your two assigned classmates on canvas.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If you have already done this, you are welcome to move on to today’s canvas survey and begin incorporating feedback from your classmates and Prof. Hobbs.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Incorporating Feedback</a:t>
            </a:r>
            <a:endParaRPr/>
          </a:p>
        </p:txBody>
      </p:sp>
      <p:sp>
        <p:nvSpPr>
          <p:cNvPr id="176" name="Google Shape;176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Incorporating Feedback</a:t>
            </a:r>
            <a:endParaRPr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Based on the feedback you've received so far and the progress you've made, compile a list of the tasks you'd like to complete as you finish up your data analysis. Put them in two categories: "necessary" and "bonus.”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Identify any areas where you're stuck and could use help.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Describe your plan for completing your analysis. 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2021-11-01T16:14:52Z</dcterms:created>
  <dc:creator>Microsoft Office User</dc:creator>
</cp:coreProperties>
</file>