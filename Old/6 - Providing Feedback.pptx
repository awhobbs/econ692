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4" roundtripDataSignature="AMtx7mhdId1v+3tGHDkY7bl07TTl9+xi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F92BBB-A231-481C-B789-767096B73AF0}">
  <a:tblStyle styleId="{1AF92BBB-A231-481C-B789-767096B73A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Providing Feedback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Causal Inference: Difference-in-Differences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Providing Feedback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Difference-in-Differences (DiD)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What’s difference-in-differences?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 least two groups, some of whom are treated and some not.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Simple (2x2) case: all treated are treated at the same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Complicated (and more common): treatment happens at different times.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first (?) DiD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the mid 1800s, a John Snow was a doctor in London. At the time, it was believed that cholera was transmitted by air.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Quarantine and other traditional approaches were ineffective, so Snow formed a new hypothesis: what if water were the mechanism?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Natural experiment: two water companies in London, and one (Lambeth) had moved pipes further up the Thames river in 1949.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Is cholera water borne?</a:t>
            </a:r>
            <a:endParaRPr/>
          </a:p>
        </p:txBody>
      </p:sp>
      <p:graphicFrame>
        <p:nvGraphicFramePr>
          <p:cNvPr id="115" name="Google Shape;115;p6"/>
          <p:cNvGraphicFramePr/>
          <p:nvPr/>
        </p:nvGraphicFramePr>
        <p:xfrm>
          <a:off x="1483042" y="2001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{1AF92BBB-A231-481C-B789-767096B73AF0}</a:tableStyleId>
              </a:tblPr>
              <a:tblGrid>
                <a:gridCol w="3454725"/>
                <a:gridCol w="2537450"/>
                <a:gridCol w="3154675"/>
              </a:tblGrid>
              <a:tr h="93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Company name</a:t>
                      </a:r>
                      <a:endParaRPr sz="2400" u="none" cap="none" strike="noStrike"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1849</a:t>
                      </a:r>
                      <a:endParaRPr sz="2400" u="none" cap="none" strike="noStrike"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1854</a:t>
                      </a:r>
                      <a:endParaRPr sz="2400" u="none" cap="none" strike="noStrike"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7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Southwark and Vauxhall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135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147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Lambeth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85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Estimating 2x2 DiD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Treatment group </a:t>
            </a:r>
            <a:r>
              <a:rPr i="1" lang="en-US"/>
              <a:t>k </a:t>
            </a:r>
            <a:r>
              <a:rPr lang="en-US"/>
              <a:t>and untreated group  </a:t>
            </a:r>
            <a:r>
              <a:rPr i="1" lang="en-US"/>
              <a:t>U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 </a:t>
            </a:r>
            <a:r>
              <a:rPr lang="en-US"/>
              <a:t>In terms of potential outcomes: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8419" y="2553970"/>
            <a:ext cx="5209609" cy="669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8419" y="4184425"/>
            <a:ext cx="8224371" cy="1638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minimum wage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Card and Krueger (1994) famously estimated the impact of the minimum wage on employment.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Theory: under competition, minimum wages should lower employment. But under monopsony, it they might actually increase 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New Jersey increased their minimum wage in 1992; neighboring Pennsylvania did not.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Results: Minimum Wage and Employment</a:t>
            </a:r>
            <a:endParaRPr/>
          </a:p>
        </p:txBody>
      </p:sp>
      <p:graphicFrame>
        <p:nvGraphicFramePr>
          <p:cNvPr id="135" name="Google Shape;135;p9"/>
          <p:cNvGraphicFramePr/>
          <p:nvPr/>
        </p:nvGraphicFramePr>
        <p:xfrm>
          <a:off x="2375484" y="2103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{1AF92BBB-A231-481C-B789-767096B73AF0}</a:tableStyleId>
              </a:tblPr>
              <a:tblGrid>
                <a:gridCol w="2081150"/>
                <a:gridCol w="2081150"/>
                <a:gridCol w="2081150"/>
                <a:gridCol w="20811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Stores by State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Dependent Variable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NJ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NJ – PA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FTW before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23.3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20.44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−2.89</a:t>
                      </a:r>
                      <a:r>
                        <a:rPr b="0" i="0" lang="en-US" sz="2400"/>
                        <a:t>−2.89</a:t>
                      </a:r>
                      <a:endParaRPr sz="24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(1.35)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(0.51)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(1.44)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FTE after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21.147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21.03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−0.14</a:t>
                      </a:r>
                      <a:r>
                        <a:rPr b="0" i="0" lang="en-US" sz="2400"/>
                        <a:t>−0.14</a:t>
                      </a:r>
                      <a:endParaRPr sz="24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(0.94)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(0.52)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(1.07)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Change in mean FTE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−2.16</a:t>
                      </a:r>
                      <a:r>
                        <a:rPr b="0" i="0" lang="en-US" sz="2400"/>
                        <a:t>−2.16</a:t>
                      </a:r>
                      <a:endParaRPr sz="24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0.59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2.76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(1.25)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(0.54)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(1.36)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DiD Visualized</a:t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838200" y="1825625"/>
            <a:ext cx="486577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Estimate using: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903" y="2558027"/>
            <a:ext cx="4787067" cy="27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3388" y="1590967"/>
            <a:ext cx="5470994" cy="4820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Inference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Serial correlation in outcomes is common, which mean standard errors are biased. Some options: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Block bootstrapping (sample groups w/ replacement)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Aggregation (group pre and post into a single period each)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Clustering (cluster standard errors @ group level)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Parallel Trends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838200" y="1825625"/>
            <a:ext cx="562676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key assumption!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should provide evidence;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Pre-treatment balance between treatment / control.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Event study plots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Plots of trends beforehand</a:t>
            </a:r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326" y="1414463"/>
            <a:ext cx="61849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Placebos</a:t>
            </a:r>
            <a:endParaRPr/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Placebos can also help!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 data on wages for folks not affected by minimum wage.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Alternative: triple differences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Differential Timing/ Staggered Treatment</a:t>
            </a:r>
            <a:endParaRPr/>
          </a:p>
        </p:txBody>
      </p:sp>
      <p:sp>
        <p:nvSpPr>
          <p:cNvPr id="168" name="Google Shape;168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Traditional estimator is a weighted average of all potential 2x2 DiD estimates.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Otherwise, we get a new source of bias: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We’d need to assume constant effects over time to get rid of the third term.</a:t>
            </a:r>
            <a:endParaRPr/>
          </a:p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1425" y="3233276"/>
            <a:ext cx="6510701" cy="207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Heterogeneity within groups</a:t>
            </a:r>
            <a:endParaRPr/>
          </a:p>
        </p:txBody>
      </p:sp>
      <p:pic>
        <p:nvPicPr>
          <p:cNvPr id="175" name="Google Shape;17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27" y="1846177"/>
            <a:ext cx="5820945" cy="426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to do?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Situation dependent: if you’re in this situation, see our text for some ideas.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important: be aware of and discuss the bias! Can you make some assumptions to sign it?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researchers working on this – stay tuned for more flexible/ general-purpose tools.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Providing Feedback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Feedback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groups of 2-3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Share the results of your data analysis so far + next steps.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 feedback on methodology and data.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Any open questions?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Remember, data analysis is due </a:t>
            </a:r>
            <a:r>
              <a:rPr b="1" lang="en-US"/>
              <a:t>this Friday</a:t>
            </a:r>
            <a:r>
              <a:rPr lang="en-US"/>
              <a:t>,</a:t>
            </a:r>
            <a:r>
              <a:rPr lang="en-US"/>
              <a:t> data analysis peer feedback is due Friday 3/24 and final data analysis is due on 3/31.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2021-03-03T18:05:09Z</dcterms:created>
  <dc:creator>Microsoft Office User</dc:creator>
</cp:coreProperties>
</file>