
<file path=[Content_Types].xml><?xml version="1.0" encoding="utf-8"?>
<Types xmlns="http://schemas.openxmlformats.org/package/2006/content-types">
  <Default ContentType="application/xml" Extension="xml"/>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http://customooxmlschemas.google.com/">
      <go:slidesCustomData xmlns:go="http://customooxmlschemas.google.com/" r:id="rId20" roundtripDataSignature="AMtx7mhhhQtUF3VwWu7NsvEURUklkm8Vh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customschemas.google.com/relationships/presentationmetadata" Target="meta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2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2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2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9" name="Shape 29"/>
        <p:cNvGrpSpPr/>
        <p:nvPr/>
      </p:nvGrpSpPr>
      <p:grpSpPr>
        <a:xfrm>
          <a:off x="0" y="0"/>
          <a:ext cx="0" cy="0"/>
          <a:chOff x="0" y="0"/>
          <a:chExt cx="0" cy="0"/>
        </a:xfrm>
      </p:grpSpPr>
      <p:sp>
        <p:nvSpPr>
          <p:cNvPr id="30" name="Google Shape;30;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6"/>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26"/>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7"/>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7"/>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27"/>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27"/>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27"/>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2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3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30"/>
          <p:cNvSpPr/>
          <p:nvPr>
            <p:ph idx="2" type="pic"/>
          </p:nvPr>
        </p:nvSpPr>
        <p:spPr>
          <a:xfrm>
            <a:off x="5183188" y="987425"/>
            <a:ext cx="6172200" cy="4873625"/>
          </a:xfrm>
          <a:prstGeom prst="rect">
            <a:avLst/>
          </a:prstGeom>
          <a:noFill/>
          <a:ln>
            <a:noFill/>
          </a:ln>
        </p:spPr>
      </p:sp>
      <p:sp>
        <p:nvSpPr>
          <p:cNvPr id="64" name="Google Shape;64;p3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rPr lang="en-US"/>
              <a:t>Audience</a:t>
            </a:r>
            <a:endParaRPr/>
          </a:p>
        </p:txBody>
      </p:sp>
      <p:sp>
        <p:nvSpPr>
          <p:cNvPr id="85" name="Google Shape;85;p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Today</a:t>
            </a:r>
            <a:endParaRPr/>
          </a:p>
        </p:txBody>
      </p:sp>
      <p:sp>
        <p:nvSpPr>
          <p:cNvPr id="91" name="Google Shape;91;p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Causal Inference Recap</a:t>
            </a:r>
            <a:endParaRPr/>
          </a:p>
          <a:p>
            <a:pPr indent="-228600" lvl="0" marL="228600" rtl="0" algn="l">
              <a:lnSpc>
                <a:spcPct val="90000"/>
              </a:lnSpc>
              <a:spcBef>
                <a:spcPts val="1000"/>
              </a:spcBef>
              <a:spcAft>
                <a:spcPts val="0"/>
              </a:spcAft>
              <a:buClr>
                <a:schemeClr val="dk1"/>
              </a:buClr>
              <a:buSzPts val="2800"/>
              <a:buChar char="•"/>
            </a:pPr>
            <a:r>
              <a:rPr lang="en-US"/>
              <a:t>Audience</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3"/>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6000"/>
              <a:buFont typeface="Calibri"/>
              <a:buNone/>
            </a:pPr>
            <a:r>
              <a:rPr lang="en-US"/>
              <a:t>Causal Inference</a:t>
            </a:r>
            <a:endParaRPr/>
          </a:p>
        </p:txBody>
      </p:sp>
      <p:sp>
        <p:nvSpPr>
          <p:cNvPr id="97" name="Google Shape;97;p3"/>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888888"/>
              </a:buClr>
              <a:buSzPts val="240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What have we learned?</a:t>
            </a:r>
            <a:endParaRPr/>
          </a:p>
        </p:txBody>
      </p:sp>
      <p:sp>
        <p:nvSpPr>
          <p:cNvPr id="103" name="Google Shape;103;p4"/>
          <p:cNvSpPr txBox="1"/>
          <p:nvPr>
            <p:ph idx="1" type="body"/>
          </p:nvPr>
        </p:nvSpPr>
        <p:spPr>
          <a:xfrm>
            <a:off x="838200" y="1825625"/>
            <a:ext cx="10284000" cy="43512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1000"/>
              </a:spcBef>
              <a:spcAft>
                <a:spcPts val="0"/>
              </a:spcAft>
              <a:buClr>
                <a:schemeClr val="dk1"/>
              </a:buClr>
              <a:buSzPts val="2800"/>
              <a:buChar char="•"/>
            </a:pPr>
            <a:r>
              <a:rPr lang="en-US"/>
              <a:t>A variety of methods for identifying causal effects from data.</a:t>
            </a:r>
            <a:endParaRPr/>
          </a:p>
          <a:p>
            <a:pPr indent="-165100" lvl="0" marL="228600" rtl="0" algn="l">
              <a:lnSpc>
                <a:spcPct val="90000"/>
              </a:lnSpc>
              <a:spcBef>
                <a:spcPts val="1000"/>
              </a:spcBef>
              <a:spcAft>
                <a:spcPts val="0"/>
              </a:spcAft>
              <a:buSzPts val="1800"/>
              <a:buChar char="•"/>
            </a:pPr>
            <a:r>
              <a:rPr lang="en-US"/>
              <a:t>Point of commonality: all require assumptions! Methods alone aren’t enough - you need to understand your context.</a:t>
            </a:r>
            <a:endParaRPr/>
          </a:p>
          <a:p>
            <a:pPr indent="-165100" lvl="0" marL="228600" rtl="0" algn="l">
              <a:lnSpc>
                <a:spcPct val="90000"/>
              </a:lnSpc>
              <a:spcBef>
                <a:spcPts val="1000"/>
              </a:spcBef>
              <a:spcAft>
                <a:spcPts val="0"/>
              </a:spcAft>
              <a:buSzPts val="1800"/>
              <a:buChar char="•"/>
            </a:pPr>
            <a:r>
              <a:rPr lang="en-US"/>
              <a:t>Correlation is not causation, but sometimes it is.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Project Expectations</a:t>
            </a:r>
            <a:endParaRPr/>
          </a:p>
        </p:txBody>
      </p:sp>
      <p:sp>
        <p:nvSpPr>
          <p:cNvPr id="109" name="Google Shape;109;p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Be clear about what causal inference method you’re using.</a:t>
            </a:r>
            <a:endParaRPr/>
          </a:p>
          <a:p>
            <a:pPr indent="-165100" lvl="0" marL="228600" rtl="0" algn="l">
              <a:lnSpc>
                <a:spcPct val="90000"/>
              </a:lnSpc>
              <a:spcBef>
                <a:spcPts val="0"/>
              </a:spcBef>
              <a:spcAft>
                <a:spcPts val="0"/>
              </a:spcAft>
              <a:buSzPts val="1800"/>
              <a:buChar char="•"/>
            </a:pPr>
            <a:r>
              <a:rPr lang="en-US"/>
              <a:t>Clearly state the assumptions for causality and what they would mean for your data in plain language (not only math!).</a:t>
            </a:r>
            <a:endParaRPr/>
          </a:p>
          <a:p>
            <a:pPr indent="-165100" lvl="0" marL="228600" rtl="0" algn="l">
              <a:lnSpc>
                <a:spcPct val="90000"/>
              </a:lnSpc>
              <a:spcBef>
                <a:spcPts val="0"/>
              </a:spcBef>
              <a:spcAft>
                <a:spcPts val="0"/>
              </a:spcAft>
              <a:buSzPts val="1800"/>
              <a:buChar char="•"/>
            </a:pPr>
            <a:r>
              <a:rPr lang="en-US"/>
              <a:t>Evaluate each of the assumptions in writing - discuss how likely you think they are to hold. It’s okay if not likely!</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9"/>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6000"/>
              <a:buFont typeface="Calibri"/>
              <a:buNone/>
            </a:pPr>
            <a:r>
              <a:rPr lang="en-US"/>
              <a:t>Audience</a:t>
            </a:r>
            <a:endParaRPr/>
          </a:p>
        </p:txBody>
      </p:sp>
      <p:sp>
        <p:nvSpPr>
          <p:cNvPr id="115" name="Google Shape;115;p9"/>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888888"/>
              </a:buClr>
              <a:buSzPts val="2400"/>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Where we are at</a:t>
            </a:r>
            <a:endParaRPr/>
          </a:p>
        </p:txBody>
      </p:sp>
      <p:sp>
        <p:nvSpPr>
          <p:cNvPr id="121" name="Google Shape;121;p10"/>
          <p:cNvSpPr txBox="1"/>
          <p:nvPr>
            <p:ph idx="1" type="body"/>
          </p:nvPr>
        </p:nvSpPr>
        <p:spPr>
          <a:xfrm>
            <a:off x="838200" y="1801950"/>
            <a:ext cx="10515600" cy="43512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Ideally, you now have</a:t>
            </a:r>
            <a:endParaRPr/>
          </a:p>
          <a:p>
            <a:pPr indent="-228600" lvl="1" marL="685800" rtl="0" algn="l">
              <a:lnSpc>
                <a:spcPct val="90000"/>
              </a:lnSpc>
              <a:spcBef>
                <a:spcPts val="500"/>
              </a:spcBef>
              <a:spcAft>
                <a:spcPts val="0"/>
              </a:spcAft>
              <a:buClr>
                <a:schemeClr val="dk1"/>
              </a:buClr>
              <a:buSzPts val="2400"/>
              <a:buChar char="•"/>
            </a:pPr>
            <a:r>
              <a:rPr lang="en-US"/>
              <a:t>A clear idea of what you’re working on</a:t>
            </a:r>
            <a:endParaRPr/>
          </a:p>
          <a:p>
            <a:pPr indent="-228600" lvl="1" marL="685800" rtl="0" algn="l">
              <a:lnSpc>
                <a:spcPct val="90000"/>
              </a:lnSpc>
              <a:spcBef>
                <a:spcPts val="500"/>
              </a:spcBef>
              <a:spcAft>
                <a:spcPts val="0"/>
              </a:spcAft>
              <a:buClr>
                <a:schemeClr val="dk1"/>
              </a:buClr>
              <a:buSzPts val="2400"/>
              <a:buChar char="•"/>
            </a:pPr>
            <a:r>
              <a:rPr lang="en-US"/>
              <a:t>Your data analysis in a state that you’re generally satisfied with, even if you </a:t>
            </a:r>
            <a:r>
              <a:rPr lang="en-US"/>
              <a:t>might</a:t>
            </a:r>
            <a:r>
              <a:rPr lang="en-US"/>
              <a:t> want to add some more bells and whistles later on.</a:t>
            </a:r>
            <a:endParaRPr/>
          </a:p>
          <a:p>
            <a:pPr indent="-228600" lvl="0" marL="228600" rtl="0" algn="l">
              <a:lnSpc>
                <a:spcPct val="90000"/>
              </a:lnSpc>
              <a:spcBef>
                <a:spcPts val="1000"/>
              </a:spcBef>
              <a:spcAft>
                <a:spcPts val="0"/>
              </a:spcAft>
              <a:buClr>
                <a:schemeClr val="dk1"/>
              </a:buClr>
              <a:buSzPts val="2800"/>
              <a:buChar char="•"/>
            </a:pPr>
            <a:r>
              <a:rPr lang="en-US"/>
              <a:t>If you’re behind</a:t>
            </a:r>
            <a:endParaRPr/>
          </a:p>
          <a:p>
            <a:pPr indent="-228600" lvl="1" marL="685800" rtl="0" algn="l">
              <a:lnSpc>
                <a:spcPct val="90000"/>
              </a:lnSpc>
              <a:spcBef>
                <a:spcPts val="500"/>
              </a:spcBef>
              <a:spcAft>
                <a:spcPts val="0"/>
              </a:spcAft>
              <a:buClr>
                <a:schemeClr val="dk1"/>
              </a:buClr>
              <a:buSzPts val="2400"/>
              <a:buChar char="•"/>
            </a:pPr>
            <a:r>
              <a:rPr lang="en-US"/>
              <a:t>Don’t panic! There is buffer in the schedule.</a:t>
            </a:r>
            <a:endParaRPr/>
          </a:p>
          <a:p>
            <a:pPr indent="-228600" lvl="1" marL="685800" rtl="0" algn="l">
              <a:lnSpc>
                <a:spcPct val="90000"/>
              </a:lnSpc>
              <a:spcBef>
                <a:spcPts val="500"/>
              </a:spcBef>
              <a:spcAft>
                <a:spcPts val="0"/>
              </a:spcAft>
              <a:buClr>
                <a:schemeClr val="dk1"/>
              </a:buClr>
              <a:buSzPts val="2400"/>
              <a:buChar char="•"/>
            </a:pPr>
            <a:r>
              <a:rPr lang="en-US"/>
              <a:t>But let’s discuss how to get back on track.</a:t>
            </a:r>
            <a:endParaRPr/>
          </a:p>
          <a:p>
            <a:pPr indent="-228600" lvl="0" marL="228600" rtl="0" algn="l">
              <a:lnSpc>
                <a:spcPct val="90000"/>
              </a:lnSpc>
              <a:spcBef>
                <a:spcPts val="1000"/>
              </a:spcBef>
              <a:spcAft>
                <a:spcPts val="0"/>
              </a:spcAft>
              <a:buClr>
                <a:schemeClr val="dk1"/>
              </a:buClr>
              <a:buSzPts val="2800"/>
              <a:buChar char="•"/>
            </a:pPr>
            <a:r>
              <a:rPr lang="en-US"/>
              <a:t>Today</a:t>
            </a:r>
            <a:endParaRPr/>
          </a:p>
          <a:p>
            <a:pPr indent="-228600" lvl="1" marL="685800" rtl="0" algn="l">
              <a:lnSpc>
                <a:spcPct val="90000"/>
              </a:lnSpc>
              <a:spcBef>
                <a:spcPts val="500"/>
              </a:spcBef>
              <a:spcAft>
                <a:spcPts val="0"/>
              </a:spcAft>
              <a:buClr>
                <a:schemeClr val="dk1"/>
              </a:buClr>
              <a:buSzPts val="2400"/>
              <a:buChar char="•"/>
            </a:pPr>
            <a:r>
              <a:rPr lang="en-US"/>
              <a:t>Aligning your project with your audience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Who’s your audience?</a:t>
            </a:r>
            <a:endParaRPr/>
          </a:p>
        </p:txBody>
      </p:sp>
      <p:sp>
        <p:nvSpPr>
          <p:cNvPr id="127" name="Google Shape;127;p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l">
              <a:lnSpc>
                <a:spcPct val="90000"/>
              </a:lnSpc>
              <a:spcBef>
                <a:spcPts val="0"/>
              </a:spcBef>
              <a:spcAft>
                <a:spcPts val="0"/>
              </a:spcAft>
              <a:buClr>
                <a:schemeClr val="dk1"/>
              </a:buClr>
              <a:buSzPct val="100000"/>
              <a:buChar char="•"/>
            </a:pPr>
            <a:r>
              <a:rPr lang="en-US"/>
              <a:t>Potential employers?</a:t>
            </a:r>
            <a:endParaRPr/>
          </a:p>
          <a:p>
            <a:pPr indent="-228600" lvl="0" marL="228600" rtl="0" algn="l">
              <a:lnSpc>
                <a:spcPct val="90000"/>
              </a:lnSpc>
              <a:spcBef>
                <a:spcPts val="1000"/>
              </a:spcBef>
              <a:spcAft>
                <a:spcPts val="0"/>
              </a:spcAft>
              <a:buClr>
                <a:schemeClr val="dk1"/>
              </a:buClr>
              <a:buSzPct val="100000"/>
              <a:buChar char="•"/>
            </a:pPr>
            <a:r>
              <a:rPr lang="en-US"/>
              <a:t>Data scientists?</a:t>
            </a:r>
            <a:endParaRPr/>
          </a:p>
          <a:p>
            <a:pPr indent="-228600" lvl="0" marL="228600" rtl="0" algn="l">
              <a:lnSpc>
                <a:spcPct val="90000"/>
              </a:lnSpc>
              <a:spcBef>
                <a:spcPts val="1000"/>
              </a:spcBef>
              <a:spcAft>
                <a:spcPts val="0"/>
              </a:spcAft>
              <a:buClr>
                <a:schemeClr val="dk1"/>
              </a:buClr>
              <a:buSzPct val="100000"/>
              <a:buChar char="•"/>
            </a:pPr>
            <a:r>
              <a:rPr lang="en-US"/>
              <a:t>Policymakers?</a:t>
            </a:r>
            <a:endParaRPr/>
          </a:p>
          <a:p>
            <a:pPr indent="-228600" lvl="0" marL="228600" rtl="0" algn="l">
              <a:lnSpc>
                <a:spcPct val="90000"/>
              </a:lnSpc>
              <a:spcBef>
                <a:spcPts val="1000"/>
              </a:spcBef>
              <a:spcAft>
                <a:spcPts val="0"/>
              </a:spcAft>
              <a:buClr>
                <a:schemeClr val="dk1"/>
              </a:buClr>
              <a:buSzPct val="100000"/>
              <a:buChar char="•"/>
            </a:pPr>
            <a:r>
              <a:rPr lang="en-US"/>
              <a:t>Researchers?</a:t>
            </a:r>
            <a:endParaRPr/>
          </a:p>
          <a:p>
            <a:pPr indent="-228600" lvl="0" marL="228600" rtl="0" algn="l">
              <a:lnSpc>
                <a:spcPct val="90000"/>
              </a:lnSpc>
              <a:spcBef>
                <a:spcPts val="1000"/>
              </a:spcBef>
              <a:spcAft>
                <a:spcPts val="0"/>
              </a:spcAft>
              <a:buClr>
                <a:schemeClr val="dk1"/>
              </a:buClr>
              <a:buSzPct val="100000"/>
              <a:buChar char="•"/>
            </a:pPr>
            <a:r>
              <a:rPr lang="en-US"/>
              <a:t>Economists?</a:t>
            </a:r>
            <a:endParaRPr/>
          </a:p>
          <a:p>
            <a:pPr indent="-64135" lvl="0" marL="228600" rtl="0" algn="l">
              <a:lnSpc>
                <a:spcPct val="90000"/>
              </a:lnSpc>
              <a:spcBef>
                <a:spcPts val="1000"/>
              </a:spcBef>
              <a:spcAft>
                <a:spcPts val="0"/>
              </a:spcAft>
              <a:buClr>
                <a:schemeClr val="dk1"/>
              </a:buClr>
              <a:buSzPct val="100000"/>
              <a:buNone/>
            </a:pPr>
            <a:r>
              <a:t/>
            </a:r>
            <a:endParaRPr/>
          </a:p>
          <a:p>
            <a:pPr indent="0" lvl="0" marL="0" rtl="0" algn="l">
              <a:lnSpc>
                <a:spcPct val="90000"/>
              </a:lnSpc>
              <a:spcBef>
                <a:spcPts val="1000"/>
              </a:spcBef>
              <a:spcAft>
                <a:spcPts val="0"/>
              </a:spcAft>
              <a:buClr>
                <a:schemeClr val="dk1"/>
              </a:buClr>
              <a:buSzPct val="100000"/>
              <a:buNone/>
            </a:pPr>
            <a:r>
              <a:rPr lang="en-US"/>
              <a:t>Regardless: you probably want to show why your skills are great.</a:t>
            </a:r>
            <a:endParaRPr/>
          </a:p>
          <a:p>
            <a:pPr indent="0" lvl="0" marL="0" rtl="0" algn="l">
              <a:lnSpc>
                <a:spcPct val="90000"/>
              </a:lnSpc>
              <a:spcBef>
                <a:spcPts val="1000"/>
              </a:spcBef>
              <a:spcAft>
                <a:spcPts val="0"/>
              </a:spcAft>
              <a:buClr>
                <a:schemeClr val="dk1"/>
              </a:buClr>
              <a:buSzPct val="100000"/>
              <a:buNone/>
            </a:pPr>
            <a:r>
              <a:t/>
            </a:r>
            <a:endParaRPr/>
          </a:p>
          <a:p>
            <a:pPr indent="0" lvl="0" marL="0" rtl="0" algn="l">
              <a:lnSpc>
                <a:spcPct val="90000"/>
              </a:lnSpc>
              <a:spcBef>
                <a:spcPts val="1000"/>
              </a:spcBef>
              <a:spcAft>
                <a:spcPts val="0"/>
              </a:spcAft>
              <a:buClr>
                <a:schemeClr val="dk1"/>
              </a:buClr>
              <a:buSzPct val="100000"/>
              <a:buNone/>
            </a:pPr>
            <a:r>
              <a:rPr lang="en-US"/>
              <a:t>Take a few minutes to think about who you would like to impress with the output of your capstone project. If more than one person or group, rank them, and be as specific as possible.</a:t>
            </a:r>
            <a:endParaRPr/>
          </a:p>
          <a:p>
            <a:pPr indent="-64135"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What are they looking for?</a:t>
            </a:r>
            <a:endParaRPr/>
          </a:p>
        </p:txBody>
      </p:sp>
      <p:sp>
        <p:nvSpPr>
          <p:cNvPr id="133" name="Google Shape;133;p1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Data makes sense to everyone if presented right.</a:t>
            </a:r>
            <a:endParaRPr/>
          </a:p>
          <a:p>
            <a:pPr indent="-228600" lvl="0" marL="228600" rtl="0" algn="l">
              <a:lnSpc>
                <a:spcPct val="90000"/>
              </a:lnSpc>
              <a:spcBef>
                <a:spcPts val="1000"/>
              </a:spcBef>
              <a:spcAft>
                <a:spcPts val="0"/>
              </a:spcAft>
              <a:buClr>
                <a:schemeClr val="dk1"/>
              </a:buClr>
              <a:buSzPts val="2800"/>
              <a:buChar char="•"/>
            </a:pPr>
            <a:r>
              <a:rPr lang="en-US"/>
              <a:t>Different people are used to different forms:</a:t>
            </a:r>
            <a:endParaRPr/>
          </a:p>
          <a:p>
            <a:pPr indent="-228600" lvl="1" marL="685800" rtl="0" algn="l">
              <a:lnSpc>
                <a:spcPct val="90000"/>
              </a:lnSpc>
              <a:spcBef>
                <a:spcPts val="500"/>
              </a:spcBef>
              <a:spcAft>
                <a:spcPts val="0"/>
              </a:spcAft>
              <a:buClr>
                <a:schemeClr val="dk1"/>
              </a:buClr>
              <a:buSzPts val="2400"/>
              <a:buChar char="•"/>
            </a:pPr>
            <a:r>
              <a:rPr lang="en-US"/>
              <a:t>Good graphics make sense to a wide range of people.</a:t>
            </a:r>
            <a:endParaRPr/>
          </a:p>
          <a:p>
            <a:pPr indent="-228600" lvl="1" marL="685800" rtl="0" algn="l">
              <a:lnSpc>
                <a:spcPct val="90000"/>
              </a:lnSpc>
              <a:spcBef>
                <a:spcPts val="500"/>
              </a:spcBef>
              <a:spcAft>
                <a:spcPts val="0"/>
              </a:spcAft>
              <a:buClr>
                <a:schemeClr val="dk1"/>
              </a:buClr>
              <a:buSzPts val="2400"/>
              <a:buChar char="•"/>
            </a:pPr>
            <a:r>
              <a:rPr lang="en-US"/>
              <a:t>Prediction accuracy well understood by ML/ data science folks.</a:t>
            </a:r>
            <a:endParaRPr/>
          </a:p>
          <a:p>
            <a:pPr indent="-228600" lvl="1" marL="685800" rtl="0" algn="l">
              <a:lnSpc>
                <a:spcPct val="90000"/>
              </a:lnSpc>
              <a:spcBef>
                <a:spcPts val="500"/>
              </a:spcBef>
              <a:spcAft>
                <a:spcPts val="0"/>
              </a:spcAft>
              <a:buClr>
                <a:schemeClr val="dk1"/>
              </a:buClr>
              <a:buSzPts val="2400"/>
              <a:buChar char="•"/>
            </a:pPr>
            <a:r>
              <a:rPr lang="en-US"/>
              <a:t>Engineers may be interested in algorithms, data structures, CPU/ memory usage, etc.</a:t>
            </a:r>
            <a:endParaRPr/>
          </a:p>
          <a:p>
            <a:pPr indent="-228600" lvl="1" marL="685800" rtl="0" algn="l">
              <a:lnSpc>
                <a:spcPct val="90000"/>
              </a:lnSpc>
              <a:spcBef>
                <a:spcPts val="500"/>
              </a:spcBef>
              <a:spcAft>
                <a:spcPts val="0"/>
              </a:spcAft>
              <a:buClr>
                <a:schemeClr val="dk1"/>
              </a:buClr>
              <a:buSzPts val="2400"/>
              <a:buChar char="•"/>
            </a:pPr>
            <a:r>
              <a:rPr lang="en-US"/>
              <a:t>Confidence intervals, p-values are important, but some won’t know.</a:t>
            </a:r>
            <a:endParaRPr/>
          </a:p>
          <a:p>
            <a:pPr indent="-228600" lvl="1" marL="685800" rtl="0" algn="l">
              <a:lnSpc>
                <a:spcPct val="90000"/>
              </a:lnSpc>
              <a:spcBef>
                <a:spcPts val="500"/>
              </a:spcBef>
              <a:spcAft>
                <a:spcPts val="0"/>
              </a:spcAft>
              <a:buClr>
                <a:schemeClr val="dk1"/>
              </a:buClr>
              <a:buSzPts val="2400"/>
              <a:buChar char="•"/>
            </a:pPr>
            <a:r>
              <a:rPr lang="en-US"/>
              <a:t>Causal inference is also important, but economists or other causal specialists more likely to understand the difference.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What economists bring to the table</a:t>
            </a:r>
            <a:endParaRPr/>
          </a:p>
        </p:txBody>
      </p:sp>
      <p:sp>
        <p:nvSpPr>
          <p:cNvPr id="139" name="Google Shape;139;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Careful thinking using (non-blackbox) models.</a:t>
            </a:r>
            <a:endParaRPr/>
          </a:p>
          <a:p>
            <a:pPr indent="-228600" lvl="1" marL="685800" rtl="0" algn="l">
              <a:lnSpc>
                <a:spcPct val="90000"/>
              </a:lnSpc>
              <a:spcBef>
                <a:spcPts val="500"/>
              </a:spcBef>
              <a:spcAft>
                <a:spcPts val="0"/>
              </a:spcAft>
              <a:buClr>
                <a:schemeClr val="dk1"/>
              </a:buClr>
              <a:buSzPts val="2400"/>
              <a:buChar char="•"/>
            </a:pPr>
            <a:r>
              <a:rPr lang="en-US"/>
              <a:t>Advantage: standard ML methods are very flexible, but they require a huge amount of data precisely because the data is the only source of ideas. Models can help you put information from your brain into your work too.</a:t>
            </a:r>
            <a:endParaRPr/>
          </a:p>
          <a:p>
            <a:pPr indent="-228600" lvl="0" marL="228600" rtl="0" algn="l">
              <a:lnSpc>
                <a:spcPct val="90000"/>
              </a:lnSpc>
              <a:spcBef>
                <a:spcPts val="1000"/>
              </a:spcBef>
              <a:spcAft>
                <a:spcPts val="0"/>
              </a:spcAft>
              <a:buClr>
                <a:schemeClr val="dk1"/>
              </a:buClr>
              <a:buSzPts val="2800"/>
              <a:buChar char="•"/>
            </a:pPr>
            <a:r>
              <a:rPr lang="en-US"/>
              <a:t>Causal inference.</a:t>
            </a:r>
            <a:endParaRPr/>
          </a:p>
          <a:p>
            <a:pPr indent="-228600" lvl="1" marL="685800" rtl="0" algn="l">
              <a:lnSpc>
                <a:spcPct val="90000"/>
              </a:lnSpc>
              <a:spcBef>
                <a:spcPts val="500"/>
              </a:spcBef>
              <a:spcAft>
                <a:spcPts val="0"/>
              </a:spcAft>
              <a:buClr>
                <a:schemeClr val="dk1"/>
              </a:buClr>
              <a:buSzPts val="2400"/>
              <a:buChar char="•"/>
            </a:pPr>
            <a:r>
              <a:rPr lang="en-US"/>
              <a:t>Think of an example where this is relevant to the firm you’re talking to. Causal inference is especially relevant when a firm wants to </a:t>
            </a:r>
            <a:r>
              <a:rPr b="1" lang="en-US"/>
              <a:t>affect</a:t>
            </a:r>
            <a:r>
              <a:rPr lang="en-US"/>
              <a:t> outcomes.</a:t>
            </a:r>
            <a:endParaRPr/>
          </a:p>
          <a:p>
            <a:pPr indent="-228600" lvl="0" marL="228600" rtl="0" algn="l">
              <a:lnSpc>
                <a:spcPct val="90000"/>
              </a:lnSpc>
              <a:spcBef>
                <a:spcPts val="1000"/>
              </a:spcBef>
              <a:spcAft>
                <a:spcPts val="0"/>
              </a:spcAft>
              <a:buClr>
                <a:schemeClr val="dk1"/>
              </a:buClr>
              <a:buSzPts val="2800"/>
              <a:buChar char="•"/>
            </a:pPr>
            <a:r>
              <a:rPr lang="en-US"/>
              <a:t>Cost-benefit analysis + tradeoffs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Not just for tech!</a:t>
            </a:r>
            <a:endParaRPr/>
          </a:p>
        </p:txBody>
      </p:sp>
      <p:sp>
        <p:nvSpPr>
          <p:cNvPr id="145" name="Google Shape;145;p1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These same skills make economists desirable hires in:</a:t>
            </a:r>
            <a:endParaRPr/>
          </a:p>
          <a:p>
            <a:pPr indent="-228600" lvl="1" marL="685800" rtl="0" algn="l">
              <a:lnSpc>
                <a:spcPct val="90000"/>
              </a:lnSpc>
              <a:spcBef>
                <a:spcPts val="500"/>
              </a:spcBef>
              <a:spcAft>
                <a:spcPts val="0"/>
              </a:spcAft>
              <a:buClr>
                <a:schemeClr val="dk1"/>
              </a:buClr>
              <a:buSzPts val="2400"/>
              <a:buChar char="•"/>
            </a:pPr>
            <a:r>
              <a:rPr lang="en-US"/>
              <a:t>Policy/ Government</a:t>
            </a:r>
            <a:endParaRPr/>
          </a:p>
          <a:p>
            <a:pPr indent="-228600" lvl="1" marL="685800" rtl="0" algn="l">
              <a:lnSpc>
                <a:spcPct val="90000"/>
              </a:lnSpc>
              <a:spcBef>
                <a:spcPts val="500"/>
              </a:spcBef>
              <a:spcAft>
                <a:spcPts val="0"/>
              </a:spcAft>
              <a:buClr>
                <a:schemeClr val="dk1"/>
              </a:buClr>
              <a:buSzPts val="2400"/>
              <a:buChar char="•"/>
            </a:pPr>
            <a:r>
              <a:rPr lang="en-US"/>
              <a:t>Finance</a:t>
            </a:r>
            <a:endParaRPr/>
          </a:p>
          <a:p>
            <a:pPr indent="-228600" lvl="1" marL="685800" rtl="0" algn="l">
              <a:lnSpc>
                <a:spcPct val="90000"/>
              </a:lnSpc>
              <a:spcBef>
                <a:spcPts val="500"/>
              </a:spcBef>
              <a:spcAft>
                <a:spcPts val="0"/>
              </a:spcAft>
              <a:buClr>
                <a:schemeClr val="dk1"/>
              </a:buClr>
              <a:buSzPts val="2400"/>
              <a:buChar char="•"/>
            </a:pPr>
            <a:r>
              <a:rPr lang="en-US"/>
              <a:t>Business</a:t>
            </a:r>
            <a:endParaRPr/>
          </a:p>
          <a:p>
            <a:pPr indent="-228600" lvl="1" marL="685800" rtl="0" algn="l">
              <a:lnSpc>
                <a:spcPct val="90000"/>
              </a:lnSpc>
              <a:spcBef>
                <a:spcPts val="500"/>
              </a:spcBef>
              <a:spcAft>
                <a:spcPts val="0"/>
              </a:spcAft>
              <a:buClr>
                <a:schemeClr val="dk1"/>
              </a:buClr>
              <a:buSzPts val="2400"/>
              <a:buChar char="•"/>
            </a:pPr>
            <a:r>
              <a:rPr lang="en-US"/>
              <a:t>Healthcare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Adapting Your Project</a:t>
            </a:r>
            <a:endParaRPr/>
          </a:p>
        </p:txBody>
      </p:sp>
      <p:sp>
        <p:nvSpPr>
          <p:cNvPr id="151" name="Google Shape;151;p1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Make a short list of things that you think will appeal to your target audience. Examples (may or may not apply):</a:t>
            </a:r>
            <a:endParaRPr/>
          </a:p>
          <a:p>
            <a:pPr indent="-228600" lvl="1" marL="685800" rtl="0" algn="l">
              <a:lnSpc>
                <a:spcPct val="90000"/>
              </a:lnSpc>
              <a:spcBef>
                <a:spcPts val="500"/>
              </a:spcBef>
              <a:spcAft>
                <a:spcPts val="0"/>
              </a:spcAft>
              <a:buClr>
                <a:schemeClr val="dk1"/>
              </a:buClr>
              <a:buSzPts val="2400"/>
              <a:buChar char="•"/>
            </a:pPr>
            <a:r>
              <a:rPr lang="en-US"/>
              <a:t>Interesting/ pretty graphics.</a:t>
            </a:r>
            <a:endParaRPr/>
          </a:p>
          <a:p>
            <a:pPr indent="-228600" lvl="1" marL="685800" rtl="0" algn="l">
              <a:lnSpc>
                <a:spcPct val="90000"/>
              </a:lnSpc>
              <a:spcBef>
                <a:spcPts val="500"/>
              </a:spcBef>
              <a:spcAft>
                <a:spcPts val="0"/>
              </a:spcAft>
              <a:buClr>
                <a:schemeClr val="dk1"/>
              </a:buClr>
              <a:buSzPts val="2400"/>
              <a:buChar char="•"/>
            </a:pPr>
            <a:r>
              <a:rPr lang="en-US"/>
              <a:t>Interactive tools.</a:t>
            </a:r>
            <a:endParaRPr/>
          </a:p>
          <a:p>
            <a:pPr indent="-228600" lvl="1" marL="685800" rtl="0" algn="l">
              <a:lnSpc>
                <a:spcPct val="90000"/>
              </a:lnSpc>
              <a:spcBef>
                <a:spcPts val="500"/>
              </a:spcBef>
              <a:spcAft>
                <a:spcPts val="0"/>
              </a:spcAft>
              <a:buClr>
                <a:schemeClr val="dk1"/>
              </a:buClr>
              <a:buSzPts val="2400"/>
              <a:buChar char="•"/>
            </a:pPr>
            <a:r>
              <a:rPr lang="en-US"/>
              <a:t>In-depth discussion of methods.</a:t>
            </a:r>
            <a:endParaRPr/>
          </a:p>
          <a:p>
            <a:pPr indent="-228600" lvl="1" marL="685800" rtl="0" algn="l">
              <a:lnSpc>
                <a:spcPct val="90000"/>
              </a:lnSpc>
              <a:spcBef>
                <a:spcPts val="500"/>
              </a:spcBef>
              <a:spcAft>
                <a:spcPts val="0"/>
              </a:spcAft>
              <a:buClr>
                <a:schemeClr val="dk1"/>
              </a:buClr>
              <a:buSzPts val="2400"/>
              <a:buChar char="•"/>
            </a:pPr>
            <a:r>
              <a:rPr lang="en-US"/>
              <a:t>Clear writing.</a:t>
            </a:r>
            <a:endParaRPr/>
          </a:p>
          <a:p>
            <a:pPr indent="-228600" lvl="0" marL="228600" rtl="0" algn="l">
              <a:lnSpc>
                <a:spcPct val="90000"/>
              </a:lnSpc>
              <a:spcBef>
                <a:spcPts val="1000"/>
              </a:spcBef>
              <a:spcAft>
                <a:spcPts val="0"/>
              </a:spcAft>
              <a:buClr>
                <a:schemeClr val="dk1"/>
              </a:buClr>
              <a:buSzPts val="2800"/>
              <a:buChar char="•"/>
            </a:pPr>
            <a:r>
              <a:rPr lang="en-US"/>
              <a:t>Compare that list with your current project plan. Does it have the right stuff?</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Prepare an elevator pitch</a:t>
            </a:r>
            <a:endParaRPr/>
          </a:p>
        </p:txBody>
      </p:sp>
      <p:sp>
        <p:nvSpPr>
          <p:cNvPr id="157" name="Google Shape;157;p1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You may be applying to jobs right now.</a:t>
            </a:r>
            <a:endParaRPr/>
          </a:p>
          <a:p>
            <a:pPr indent="-228600" lvl="0" marL="228600" rtl="0" algn="l">
              <a:lnSpc>
                <a:spcPct val="90000"/>
              </a:lnSpc>
              <a:spcBef>
                <a:spcPts val="1000"/>
              </a:spcBef>
              <a:spcAft>
                <a:spcPts val="0"/>
              </a:spcAft>
              <a:buClr>
                <a:schemeClr val="dk1"/>
              </a:buClr>
              <a:buSzPts val="2800"/>
              <a:buChar char="•"/>
            </a:pPr>
            <a:r>
              <a:rPr lang="en-US"/>
              <a:t>Write an `elevator pitch’ (1 minute explanation) of your project.</a:t>
            </a:r>
            <a:endParaRPr/>
          </a:p>
          <a:p>
            <a:pPr indent="-228600" lvl="1" marL="685800" rtl="0" algn="l">
              <a:lnSpc>
                <a:spcPct val="90000"/>
              </a:lnSpc>
              <a:spcBef>
                <a:spcPts val="500"/>
              </a:spcBef>
              <a:spcAft>
                <a:spcPts val="0"/>
              </a:spcAft>
              <a:buClr>
                <a:schemeClr val="dk1"/>
              </a:buClr>
              <a:buSzPts val="2400"/>
              <a:buChar char="•"/>
            </a:pPr>
            <a:r>
              <a:rPr lang="en-US"/>
              <a:t>Make it sound exciting!</a:t>
            </a:r>
            <a:endParaRPr/>
          </a:p>
          <a:p>
            <a:pPr indent="-228600" lvl="1" marL="685800" rtl="0" algn="l">
              <a:lnSpc>
                <a:spcPct val="90000"/>
              </a:lnSpc>
              <a:spcBef>
                <a:spcPts val="500"/>
              </a:spcBef>
              <a:spcAft>
                <a:spcPts val="0"/>
              </a:spcAft>
              <a:buClr>
                <a:schemeClr val="dk1"/>
              </a:buClr>
              <a:buSzPts val="2400"/>
              <a:buChar char="•"/>
            </a:pPr>
            <a:r>
              <a:rPr lang="en-US"/>
              <a:t>Make it clear for  your audience. Can you say “I’m using x model” and be understood, or do you need to be more general?</a:t>
            </a:r>
            <a:endParaRPr/>
          </a:p>
          <a:p>
            <a:pPr indent="-228600" lvl="1" marL="685800" rtl="0" algn="l">
              <a:lnSpc>
                <a:spcPct val="90000"/>
              </a:lnSpc>
              <a:spcBef>
                <a:spcPts val="500"/>
              </a:spcBef>
              <a:spcAft>
                <a:spcPts val="0"/>
              </a:spcAft>
              <a:buClr>
                <a:schemeClr val="dk1"/>
              </a:buClr>
              <a:buSzPts val="2400"/>
              <a:buChar char="•"/>
            </a:pPr>
            <a:r>
              <a:rPr lang="en-US"/>
              <a:t>Read it out loud and time yourself. It might be longer than you think. If so, shorten it. People can and will ask follow up questions.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Role Play</a:t>
            </a:r>
            <a:endParaRPr/>
          </a:p>
        </p:txBody>
      </p:sp>
      <p:sp>
        <p:nvSpPr>
          <p:cNvPr id="163" name="Google Shape;163;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l">
              <a:lnSpc>
                <a:spcPct val="90000"/>
              </a:lnSpc>
              <a:spcBef>
                <a:spcPts val="0"/>
              </a:spcBef>
              <a:spcAft>
                <a:spcPts val="0"/>
              </a:spcAft>
              <a:buClr>
                <a:schemeClr val="dk1"/>
              </a:buClr>
              <a:buSzPct val="100000"/>
              <a:buChar char="•"/>
            </a:pPr>
            <a:r>
              <a:rPr lang="en-US"/>
              <a:t>In groups: one by one assign rest of group the role of an interviewing panel composed of your target audience.</a:t>
            </a:r>
            <a:endParaRPr/>
          </a:p>
          <a:p>
            <a:pPr indent="-228600" lvl="0" marL="228600" rtl="0" algn="l">
              <a:lnSpc>
                <a:spcPct val="90000"/>
              </a:lnSpc>
              <a:spcBef>
                <a:spcPts val="1000"/>
              </a:spcBef>
              <a:spcAft>
                <a:spcPts val="0"/>
              </a:spcAft>
              <a:buClr>
                <a:schemeClr val="dk1"/>
              </a:buClr>
              <a:buSzPct val="100000"/>
              <a:buChar char="•"/>
            </a:pPr>
            <a:r>
              <a:rPr lang="en-US"/>
              <a:t>Candidate: explain who your target audience is, then share your elevator pitch.</a:t>
            </a:r>
            <a:endParaRPr/>
          </a:p>
          <a:p>
            <a:pPr indent="-228600" lvl="0" marL="228600" rtl="0" algn="l">
              <a:lnSpc>
                <a:spcPct val="90000"/>
              </a:lnSpc>
              <a:spcBef>
                <a:spcPts val="1000"/>
              </a:spcBef>
              <a:spcAft>
                <a:spcPts val="0"/>
              </a:spcAft>
              <a:buClr>
                <a:schemeClr val="dk1"/>
              </a:buClr>
              <a:buSzPct val="100000"/>
              <a:buChar char="•"/>
            </a:pPr>
            <a:r>
              <a:rPr lang="en-US"/>
              <a:t>Interviewers: take the perspective of the target audience. Be critical (but nice). </a:t>
            </a:r>
            <a:endParaRPr/>
          </a:p>
          <a:p>
            <a:pPr indent="-457200" lvl="1" marL="914400" rtl="0" algn="l">
              <a:lnSpc>
                <a:spcPct val="90000"/>
              </a:lnSpc>
              <a:spcBef>
                <a:spcPts val="500"/>
              </a:spcBef>
              <a:spcAft>
                <a:spcPts val="0"/>
              </a:spcAft>
              <a:buClr>
                <a:schemeClr val="dk1"/>
              </a:buClr>
              <a:buSzPct val="100000"/>
              <a:buFont typeface="Calibri"/>
              <a:buAutoNum type="arabicPeriod"/>
            </a:pPr>
            <a:r>
              <a:rPr lang="en-US"/>
              <a:t>What doesn’t make sense to you about the project explanation? </a:t>
            </a:r>
            <a:endParaRPr/>
          </a:p>
          <a:p>
            <a:pPr indent="-457200" lvl="1" marL="914400" rtl="0" algn="l">
              <a:lnSpc>
                <a:spcPct val="90000"/>
              </a:lnSpc>
              <a:spcBef>
                <a:spcPts val="500"/>
              </a:spcBef>
              <a:spcAft>
                <a:spcPts val="0"/>
              </a:spcAft>
              <a:buClr>
                <a:schemeClr val="dk1"/>
              </a:buClr>
              <a:buSzPct val="100000"/>
              <a:buFont typeface="Calibri"/>
              <a:buAutoNum type="arabicPeriod"/>
            </a:pPr>
            <a:r>
              <a:rPr lang="en-US"/>
              <a:t>Deliberately fail to understand something about their data or question. Can the applicant explain aspects you don’t get clearly? (Remember, in character you likely don’t have the same knowledge)</a:t>
            </a:r>
            <a:endParaRPr/>
          </a:p>
          <a:p>
            <a:pPr indent="-457200" lvl="1" marL="914400" rtl="0" algn="l">
              <a:lnSpc>
                <a:spcPct val="90000"/>
              </a:lnSpc>
              <a:spcBef>
                <a:spcPts val="500"/>
              </a:spcBef>
              <a:spcAft>
                <a:spcPts val="0"/>
              </a:spcAft>
              <a:buClr>
                <a:schemeClr val="dk1"/>
              </a:buClr>
              <a:buSzPct val="100000"/>
              <a:buFont typeface="Calibri"/>
              <a:buAutoNum type="arabicPeriod"/>
            </a:pPr>
            <a:r>
              <a:rPr lang="en-US"/>
              <a:t>Question their chosen method. Can they explain why they chose their approach?</a:t>
            </a:r>
            <a:endParaRPr/>
          </a:p>
          <a:p>
            <a:pPr indent="-457200" lvl="1" marL="914400" rtl="0" algn="l">
              <a:lnSpc>
                <a:spcPct val="90000"/>
              </a:lnSpc>
              <a:spcBef>
                <a:spcPts val="500"/>
              </a:spcBef>
              <a:spcAft>
                <a:spcPts val="0"/>
              </a:spcAft>
              <a:buClr>
                <a:schemeClr val="dk1"/>
              </a:buClr>
              <a:buSzPct val="100000"/>
              <a:buFont typeface="Calibri"/>
              <a:buAutoNum type="arabicPeriod"/>
            </a:pPr>
            <a:r>
              <a:rPr lang="en-US"/>
              <a:t>Ask them to explain how their method works statistically and/or computationally. Can they explain their method in a way that makes sense to someone who doesn’t already know it?</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Next Steps</a:t>
            </a:r>
            <a:endParaRPr/>
          </a:p>
        </p:txBody>
      </p:sp>
      <p:sp>
        <p:nvSpPr>
          <p:cNvPr id="169" name="Google Shape;169;p2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You’ll be working on your final data analysis this week. Think carefully about where to focus your efforts given your audience.</a:t>
            </a:r>
            <a:endParaRPr/>
          </a:p>
          <a:p>
            <a:pPr indent="-228600" lvl="0" marL="228600" rtl="0" algn="l">
              <a:lnSpc>
                <a:spcPct val="90000"/>
              </a:lnSpc>
              <a:spcBef>
                <a:spcPts val="1000"/>
              </a:spcBef>
              <a:spcAft>
                <a:spcPts val="0"/>
              </a:spcAft>
              <a:buClr>
                <a:schemeClr val="dk1"/>
              </a:buClr>
              <a:buSzPts val="2800"/>
              <a:buChar char="•"/>
            </a:pPr>
            <a:r>
              <a:rPr lang="en-US"/>
              <a:t>Practice pitching your project to people. It’ll be a common interview question.</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2021-03-03T18:05:09Z</dcterms:created>
  <dc:creator>Microsoft Office User</dc:creator>
</cp:coreProperties>
</file>