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68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54"/>
    <p:restoredTop sz="94706"/>
  </p:normalViewPr>
  <p:slideViewPr>
    <p:cSldViewPr snapToGrid="0" snapToObjects="1">
      <p:cViewPr varScale="1">
        <p:scale>
          <a:sx n="97" d="100"/>
          <a:sy n="97" d="100"/>
        </p:scale>
        <p:origin x="23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BEE57-B4B2-B942-BF3A-556AACA18C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E57B26-77DB-A448-BFC2-1B7D11A06B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CFA5B-7599-9943-82AE-C0E04C80E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720E2-6765-184E-9A44-D4B3C87A483F}" type="datetimeFigureOut">
              <a:rPr lang="en-US" smtClean="0"/>
              <a:t>9/28/21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FADBE-CA07-C74A-BD3A-D3D0C6F54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D2C5C-28F8-FF4B-ADB3-F0194092A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E566F-FA23-B34B-9472-A5A7A9C9E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243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05D67-4450-7C4F-BCEC-0A4198326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6D2B2-B041-F743-BC2D-56B676B11B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9EDBA-2060-EE48-BB48-CC21E71EE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720E2-6765-184E-9A44-D4B3C87A483F}" type="datetimeFigureOut">
              <a:rPr lang="en-US" smtClean="0"/>
              <a:t>9/28/21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EB384-80AA-124E-A7BA-A95A22ED3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110EF-4CFE-5649-B433-BD34B27D2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E566F-FA23-B34B-9472-A5A7A9C9E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973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90C08-BC8A-6640-82AB-A97B30037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EABFD0-C910-F045-A7BD-A242FB13C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15FFC-0027-C642-A80A-E3BEB0CB5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720E2-6765-184E-9A44-D4B3C87A483F}" type="datetimeFigureOut">
              <a:rPr lang="en-US" smtClean="0"/>
              <a:t>9/28/21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C0E22-F29E-3249-8772-2D110BF60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2773A-C718-C14A-A389-5474556A9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E566F-FA23-B34B-9472-A5A7A9C9E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436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B5678-18C2-0144-B874-04EE094DB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621ED-6860-ED44-AA18-E1F8CEF29B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65C7F0-F364-5047-8A5F-34FB59396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ED809-F814-5A41-B428-4D459E606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720E2-6765-184E-9A44-D4B3C87A483F}" type="datetimeFigureOut">
              <a:rPr lang="en-US" smtClean="0"/>
              <a:t>9/28/21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DA37-9DF0-0047-ACBF-AEB7E431C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3F3DAA-C04D-DE4D-8DE5-B375C52DE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E566F-FA23-B34B-9472-A5A7A9C9E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658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86937-46B6-6045-BE44-EE1CEADC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D24C2-A770-A247-B7E8-E32872DB7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F6CB6C-3870-B94E-ADE1-015002860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C4DA7-E79D-8049-9490-3D32835647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661BAA-1612-8446-A02C-9E22E74A39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4C5D5E-0A5E-5A49-A050-3AAD7941B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720E2-6765-184E-9A44-D4B3C87A483F}" type="datetimeFigureOut">
              <a:rPr lang="en-US" smtClean="0"/>
              <a:t>9/28/21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A54349-9EFF-8D4C-B331-FC7F742E0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6B24C1-45B6-8944-8E99-6EF233CE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E566F-FA23-B34B-9472-A5A7A9C9E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545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ACA42-11F6-5749-A04B-F4EADAC3D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AF26C8-62C5-7E4D-AA49-E32046586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720E2-6765-184E-9A44-D4B3C87A483F}" type="datetimeFigureOut">
              <a:rPr lang="en-US" smtClean="0"/>
              <a:t>9/28/21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0B9B6A-EEF2-8B43-A648-DB8009817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5BE52E-DE94-AA41-B525-A9D5B1E41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E566F-FA23-B34B-9472-A5A7A9C9E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889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94FA8A-2529-B541-B7D8-7A4FC686F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720E2-6765-184E-9A44-D4B3C87A483F}" type="datetimeFigureOut">
              <a:rPr lang="en-US" smtClean="0"/>
              <a:t>9/28/21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C2D07C-A96F-B243-BB26-305C4437C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AF8C2-AE7F-D84B-BA97-E80C485EC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E566F-FA23-B34B-9472-A5A7A9C9E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009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B105C-20FC-D647-A046-F459846D8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5746A-4DCC-D243-9AB5-0C437FC5C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DC01E9-C6FB-F447-A8FD-6292F11C3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0A89D-39CB-5E48-A9D9-52B8214C0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720E2-6765-184E-9A44-D4B3C87A483F}" type="datetimeFigureOut">
              <a:rPr lang="en-US" smtClean="0"/>
              <a:t>9/28/21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859DD-708E-9A4D-A9D0-8AB8ADCE9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E57E7-B8B6-A74A-BAD6-916D6A2F5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E566F-FA23-B34B-9472-A5A7A9C9E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009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6DF08-69A9-0840-8121-725E22958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54BACD-37C0-C34C-A349-BA72647BD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8B8F16-04CF-2C46-ACAD-FA7B05297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03AB36-C2EB-004E-B5C5-CB419B7AC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720E2-6765-184E-9A44-D4B3C87A483F}" type="datetimeFigureOut">
              <a:rPr lang="en-US" smtClean="0"/>
              <a:t>9/28/21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2DFA1D-B8B1-B04A-A9BB-FA9AEC638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72BCB-DD7B-BC4F-B207-24750E4ED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E566F-FA23-B34B-9472-A5A7A9C9E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84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D7477-6571-CC4C-BC11-C55060FBA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E88FF9-5294-1B46-A90E-53A1EAC6CE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742C2-4BED-DB4A-AD24-CA443803F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720E2-6765-184E-9A44-D4B3C87A483F}" type="datetimeFigureOut">
              <a:rPr lang="en-US" smtClean="0"/>
              <a:t>9/28/21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3C0A7-64CA-D148-BDA5-9DBD37644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DC240-E373-BD44-B5C5-4B32F2006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E566F-FA23-B34B-9472-A5A7A9C9E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92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F2CB81-EECA-F840-851F-11E22B96FA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47464D-F7D3-8040-BE8A-539CC8A15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7F1CF-9982-B940-A28A-51BEC8DA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720E2-6765-184E-9A44-D4B3C87A483F}" type="datetimeFigureOut">
              <a:rPr lang="en-US" smtClean="0"/>
              <a:t>9/28/21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D0B77-DC8C-8C4D-8609-1EB1B3DB7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F3B86-2645-D042-95D5-F2F3E421A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E566F-FA23-B34B-9472-A5A7A9C9E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011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55C202-8BEC-2A49-8F50-4551E92BE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12245-45C0-6246-905A-253F2B3AA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31696-D58C-3844-8527-7486BC91FA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720E2-6765-184E-9A44-D4B3C87A483F}" type="datetimeFigureOut">
              <a:rPr lang="en-US" smtClean="0"/>
              <a:t>9/28/21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C024F-D263-9E48-A770-D6501F5244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06CA8-169D-B240-BC08-86477912EF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E566F-FA23-B34B-9472-A5A7A9C9E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751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31036-E53B-3741-B8DF-E2E0C59817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D60DB8-183A-4740-8E8F-EAF6294A38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111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EF4BE-B2E3-0E44-9B4F-D21865948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730DA-8344-0D4A-9D4F-06071E036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Causal Inference Series: Regression Discontinuity Design</a:t>
            </a:r>
          </a:p>
          <a:p>
            <a:r>
              <a:rPr lang="en-US" dirty="0"/>
              <a:t>Data Update + Methods Brainstorm</a:t>
            </a:r>
          </a:p>
          <a:p>
            <a:r>
              <a:rPr lang="en-US" dirty="0"/>
              <a:t>Methods Work</a:t>
            </a:r>
          </a:p>
        </p:txBody>
      </p:sp>
    </p:spTree>
    <p:extLst>
      <p:ext uri="{BB962C8B-B14F-4D97-AF65-F5344CB8AC3E}">
        <p14:creationId xmlns:p14="http://schemas.microsoft.com/office/powerpoint/2010/main" val="1212828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19DEB-B0B1-0442-B761-379BE8397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Discontinuity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38509-5653-084A-B9AF-B1999B1476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128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F30DD-1E2E-7245-A6A5-0C1528A61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brief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105B2-B194-664F-A9B2-5314642B7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Invented by </a:t>
            </a:r>
            <a:r>
              <a:rPr lang="en-US" dirty="0" err="1"/>
              <a:t>Thistlewhaite</a:t>
            </a:r>
            <a:r>
              <a:rPr lang="en-US" dirty="0"/>
              <a:t> and Campbell (1960)</a:t>
            </a:r>
          </a:p>
          <a:p>
            <a:r>
              <a:rPr lang="en-US" dirty="0"/>
              <a:t>Seldom used in economics until 1999, when several influential articles came out:</a:t>
            </a:r>
          </a:p>
          <a:p>
            <a:pPr lvl="1"/>
            <a:r>
              <a:rPr lang="en-US" dirty="0"/>
              <a:t>Angrist and </a:t>
            </a:r>
            <a:r>
              <a:rPr lang="en-US" dirty="0" err="1"/>
              <a:t>Lavey</a:t>
            </a:r>
            <a:r>
              <a:rPr lang="en-US" dirty="0"/>
              <a:t> (1999) studied effect of class size on student achievement.</a:t>
            </a:r>
          </a:p>
          <a:p>
            <a:pPr lvl="1"/>
            <a:r>
              <a:rPr lang="en-US" dirty="0"/>
              <a:t>Black (1999) studied effect of school district zoning on WTP for schooling.</a:t>
            </a:r>
          </a:p>
          <a:p>
            <a:r>
              <a:rPr lang="en-US" dirty="0"/>
              <a:t>Usage has recently skyrocketed: Lee and Lemieux (2010) has &gt;4000 citations.</a:t>
            </a:r>
          </a:p>
        </p:txBody>
      </p:sp>
    </p:spTree>
    <p:extLst>
      <p:ext uri="{BB962C8B-B14F-4D97-AF65-F5344CB8AC3E}">
        <p14:creationId xmlns:p14="http://schemas.microsoft.com/office/powerpoint/2010/main" val="3441721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636A0-8532-BB43-8C15-7DB59031B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RDD and why now?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5ECE1-1B54-054E-86BA-C4366D624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RDD eliminates selection bias, and assumptions are easy to evaluate.</a:t>
            </a:r>
          </a:p>
          <a:p>
            <a:r>
              <a:rPr lang="en-US" dirty="0"/>
              <a:t>With big administrative datasets and arbitrary cutoffs, we can get excellent estimates of ATE near the threshold.</a:t>
            </a:r>
          </a:p>
        </p:txBody>
      </p:sp>
    </p:spTree>
    <p:extLst>
      <p:ext uri="{BB962C8B-B14F-4D97-AF65-F5344CB8AC3E}">
        <p14:creationId xmlns:p14="http://schemas.microsoft.com/office/powerpoint/2010/main" val="1158116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26701-2011-4E46-9341-BD23236DC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RDD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071B9-31D7-444D-AF0B-B0C60BAD0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`running variable’ X that assigns units based on some cutoff score c</a:t>
            </a:r>
            <a:r>
              <a:rPr lang="en-US" baseline="-25000" dirty="0"/>
              <a:t>0.</a:t>
            </a:r>
          </a:p>
          <a:p>
            <a:r>
              <a:rPr lang="en-US" dirty="0"/>
              <a:t>Example: receive a DUI if BAC is over 0.08, nothing otherwise.</a:t>
            </a:r>
          </a:p>
          <a:p>
            <a:r>
              <a:rPr lang="en-US" dirty="0"/>
              <a:t>Assignment variable may also independently affect the outcome AND be related to a set of variables U that also affect Y.</a:t>
            </a:r>
          </a:p>
          <a:p>
            <a:r>
              <a:rPr lang="en-US" dirty="0"/>
              <a:t>Key assumption: cutoff itself cannot be endogenous; potential outcomes continuous at the cutoff.</a:t>
            </a:r>
          </a:p>
        </p:txBody>
      </p:sp>
    </p:spTree>
    <p:extLst>
      <p:ext uri="{BB962C8B-B14F-4D97-AF65-F5344CB8AC3E}">
        <p14:creationId xmlns:p14="http://schemas.microsoft.com/office/powerpoint/2010/main" val="2522127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59437-D521-BD4A-9B2A-360785B1E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1C85D-3334-2442-B4EB-EE9C02102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LATE stands for Local Average Treatment Effect</a:t>
            </a:r>
          </a:p>
          <a:p>
            <a:r>
              <a:rPr lang="en-US" dirty="0"/>
              <a:t>Since we do not have ‘common support’ we must extrapolate, so handling bias from that extrapolation is key.</a:t>
            </a:r>
          </a:p>
        </p:txBody>
      </p:sp>
    </p:spTree>
    <p:extLst>
      <p:ext uri="{BB962C8B-B14F-4D97-AF65-F5344CB8AC3E}">
        <p14:creationId xmlns:p14="http://schemas.microsoft.com/office/powerpoint/2010/main" val="1327260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F31E5-6281-A24C-A811-C63DA677D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Always include this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295EB-3C2D-CA40-A4A9-676922BFE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26505" cy="4351338"/>
          </a:xfrm>
        </p:spPr>
        <p:txBody>
          <a:bodyPr/>
          <a:lstStyle/>
          <a:p>
            <a:r>
              <a:rPr lang="en-US" dirty="0"/>
              <a:t>Dots representing data (or bins of data)</a:t>
            </a:r>
          </a:p>
          <a:p>
            <a:r>
              <a:rPr lang="en-US" dirty="0"/>
              <a:t>Two lines (one on each side of the cutoff), usually estimated with least squares + polynomial terms.</a:t>
            </a:r>
          </a:p>
          <a:p>
            <a:r>
              <a:rPr lang="en-US" dirty="0"/>
              <a:t>Vertical line showing threshold.</a:t>
            </a:r>
          </a:p>
          <a:p>
            <a:r>
              <a:rPr lang="en-US" dirty="0"/>
              <a:t>Source: Hoekstra, 2009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CDAC49-784F-DA49-B9AD-2A641C006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90688"/>
            <a:ext cx="5873902" cy="427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837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ED47E-1F68-1A44-BDA1-3EFD3188B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61963-BBB7-9D4E-9182-BB43D284E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78379" cy="4351338"/>
          </a:xfrm>
        </p:spPr>
        <p:txBody>
          <a:bodyPr/>
          <a:lstStyle/>
          <a:p>
            <a:r>
              <a:rPr lang="en-US" dirty="0"/>
              <a:t>Same as before, but the effect of the threshold on the outcome variable.</a:t>
            </a:r>
          </a:p>
          <a:p>
            <a:r>
              <a:rPr lang="en-US" dirty="0"/>
              <a:t>Notice that this includes a z-score –what does it mean?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11D819-D76E-B243-9475-52CFCDE8F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107" y="1919831"/>
            <a:ext cx="5710681" cy="4162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299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91C29-2F89-CF43-ABF6-BC51DDFD7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2EFEA-B773-F749-B222-64E5A3EBD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sort of assignment rule based on a running variable.</a:t>
            </a:r>
          </a:p>
          <a:p>
            <a:r>
              <a:rPr lang="en-US" dirty="0"/>
              <a:t>Best case is something that causes a jump in the probability, but doesn’t determine it 100%.</a:t>
            </a:r>
          </a:p>
          <a:p>
            <a:pPr lvl="1"/>
            <a:r>
              <a:rPr lang="en-US" dirty="0"/>
              <a:t>Probability of DUI for BAC &gt; 0.08</a:t>
            </a:r>
          </a:p>
          <a:p>
            <a:pPr lvl="1"/>
            <a:r>
              <a:rPr lang="en-US" dirty="0"/>
              <a:t>Probability of health insurance jumping @ 65</a:t>
            </a:r>
          </a:p>
          <a:p>
            <a:pPr lvl="1"/>
            <a:r>
              <a:rPr lang="en-US" dirty="0"/>
              <a:t>Probability of medical attention for birthweight &lt; 1500g</a:t>
            </a:r>
          </a:p>
          <a:p>
            <a:pPr lvl="1"/>
            <a:r>
              <a:rPr lang="en-US" dirty="0"/>
              <a:t>Probability of summer school when grades fall below some threshold</a:t>
            </a:r>
          </a:p>
          <a:p>
            <a:r>
              <a:rPr lang="en-US" dirty="0"/>
              <a:t>We need a lot of data near the threshold (large dataset)</a:t>
            </a:r>
          </a:p>
          <a:p>
            <a:r>
              <a:rPr lang="en-US" dirty="0"/>
              <a:t>Administrative data is often ideal.</a:t>
            </a:r>
          </a:p>
        </p:txBody>
      </p:sp>
    </p:spTree>
    <p:extLst>
      <p:ext uri="{BB962C8B-B14F-4D97-AF65-F5344CB8AC3E}">
        <p14:creationId xmlns:p14="http://schemas.microsoft.com/office/powerpoint/2010/main" val="1646086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ADA90-0406-984B-98D6-1AD57109E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types of RD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1B29D-9144-1946-B98F-29238D370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Sharp RD: probability of treatment goes from 0 to 1 at the cutoff</a:t>
            </a:r>
          </a:p>
          <a:p>
            <a:r>
              <a:rPr lang="en-US" dirty="0"/>
              <a:t>Fuzzy RD: probability discontinuously increases at cutoff.</a:t>
            </a:r>
          </a:p>
        </p:txBody>
      </p:sp>
    </p:spTree>
    <p:extLst>
      <p:ext uri="{BB962C8B-B14F-4D97-AF65-F5344CB8AC3E}">
        <p14:creationId xmlns:p14="http://schemas.microsoft.com/office/powerpoint/2010/main" val="1444859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5E1E8-3512-9944-B404-C8AC27688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20327-1A9D-BA4A-A828-226ACE64B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Continuity is the key assumption.</a:t>
            </a:r>
          </a:p>
          <a:p>
            <a:r>
              <a:rPr lang="en-US" dirty="0"/>
              <a:t>Example: motor vehicle deaths jump at 21. Is it due to drinking? We need to establish that nothing else changes at 21 that could explain this effect.</a:t>
            </a:r>
          </a:p>
          <a:p>
            <a:r>
              <a:rPr lang="en-US" dirty="0"/>
              <a:t>Possible placebo: do we see the same jump at 21 in places with a different drinking age?</a:t>
            </a:r>
          </a:p>
        </p:txBody>
      </p:sp>
    </p:spTree>
    <p:extLst>
      <p:ext uri="{BB962C8B-B14F-4D97-AF65-F5344CB8AC3E}">
        <p14:creationId xmlns:p14="http://schemas.microsoft.com/office/powerpoint/2010/main" val="3364621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D372D-657C-CF46-9D3D-9D8BD7BE4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Estimation: Sharp 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BFE3D8-9A56-F24B-B823-8486244D7F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Standard Equation: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However, we might want a more flexible function for </a:t>
                </a:r>
                <a:r>
                  <a:rPr lang="en-US" dirty="0" err="1"/>
                  <a:t>X_i</a:t>
                </a:r>
                <a:r>
                  <a:rPr lang="en-US" dirty="0"/>
                  <a:t> = this forces a straight line on either side of the cutoff.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𝛿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Now we’re allowing for two different straight lines. Polynomial terms or kernel methods allow the lines to more smoothly fit the data – most papers show several options.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BFE3D8-9A56-F24B-B823-8486244D7F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32" r="-1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7388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D372D-657C-CF46-9D3D-9D8BD7BE4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Estimation: Fuzzy RD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BFE3D8-9A56-F24B-B823-8486244D7F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as an indicator for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exceeds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as an instrument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(note you also need data on actual treatment).</a:t>
                </a:r>
              </a:p>
              <a:p>
                <a:r>
                  <a:rPr lang="en-US" dirty="0"/>
                  <a:t>Two options</a:t>
                </a:r>
              </a:p>
              <a:p>
                <a:pPr lvl="1"/>
                <a:r>
                  <a:rPr lang="en-US" dirty="0"/>
                  <a:t>Full IV estimation (more on this next time)</a:t>
                </a:r>
              </a:p>
              <a:p>
                <a:pPr lvl="1"/>
                <a:r>
                  <a:rPr lang="en-US" dirty="0"/>
                  <a:t>Reduced form: look directly at effect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𝛿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As before, polynomial terms (or a flexible kernel) is recommended.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BFE3D8-9A56-F24B-B823-8486244D7F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2677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853F9-E4FB-BE4A-97AC-80376398F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Identification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C9BEC-0D43-7E46-94DE-8F020F7CF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Problems with the continuity assumption can arise if:</a:t>
            </a:r>
          </a:p>
          <a:p>
            <a:pPr lvl="1"/>
            <a:r>
              <a:rPr lang="en-US" dirty="0"/>
              <a:t>Assignment rules are known in advance</a:t>
            </a:r>
          </a:p>
          <a:p>
            <a:pPr lvl="1"/>
            <a:r>
              <a:rPr lang="en-US" dirty="0"/>
              <a:t>Agents want to adjust (e.g. retake a test)</a:t>
            </a:r>
          </a:p>
          <a:p>
            <a:pPr lvl="1"/>
            <a:r>
              <a:rPr lang="en-US" dirty="0"/>
              <a:t>Agents have time to adjust</a:t>
            </a:r>
          </a:p>
          <a:p>
            <a:pPr lvl="1"/>
            <a:r>
              <a:rPr lang="en-US" dirty="0"/>
              <a:t>The cutoff is endogenous to factors that independently cause potential outcomes to shift.</a:t>
            </a:r>
          </a:p>
          <a:p>
            <a:pPr lvl="1"/>
            <a:r>
              <a:rPr lang="en-US" dirty="0"/>
              <a:t>There is nonrandom heaping along the running variable</a:t>
            </a:r>
          </a:p>
        </p:txBody>
      </p:sp>
    </p:spTree>
    <p:extLst>
      <p:ext uri="{BB962C8B-B14F-4D97-AF65-F5344CB8AC3E}">
        <p14:creationId xmlns:p14="http://schemas.microsoft.com/office/powerpoint/2010/main" val="1390790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20BCD-2554-AD47-B132-387F42324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McCrary Test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6E23C97-6901-CE40-A883-6B2E6E655A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1250" y="2432844"/>
            <a:ext cx="9969500" cy="313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508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06568-BC0B-1F43-9684-8D11956A9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Covariate Balance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06DEC3E-9F33-4D46-B664-A90477BDD3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6851" y="1825625"/>
            <a:ext cx="6658297" cy="4351338"/>
          </a:xfrm>
        </p:spPr>
      </p:pic>
    </p:spTree>
    <p:extLst>
      <p:ext uri="{BB962C8B-B14F-4D97-AF65-F5344CB8AC3E}">
        <p14:creationId xmlns:p14="http://schemas.microsoft.com/office/powerpoint/2010/main" val="42777065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A718C-0BD6-C94E-904E-5BF5FC675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2A86A0-D5B2-2643-8568-41394DE76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447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2B47-275D-7142-83EC-3972DE5D0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Canvas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086DA-2816-674D-B37A-8ADB052CC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Answer questions 1-3 on the canvas ”Methods” survey</a:t>
            </a:r>
          </a:p>
          <a:p>
            <a:r>
              <a:rPr lang="en-US" dirty="0"/>
              <a:t>We’ll discuss where everyone is at as a group.</a:t>
            </a:r>
          </a:p>
          <a:p>
            <a:r>
              <a:rPr lang="en-US" dirty="0"/>
              <a:t>Goal today: complete a very simple version of your data analysis.</a:t>
            </a:r>
          </a:p>
        </p:txBody>
      </p:sp>
    </p:spTree>
    <p:extLst>
      <p:ext uri="{BB962C8B-B14F-4D97-AF65-F5344CB8AC3E}">
        <p14:creationId xmlns:p14="http://schemas.microsoft.com/office/powerpoint/2010/main" val="2567899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737</Words>
  <Application>Microsoft Macintosh PowerPoint</Application>
  <PresentationFormat>Widescreen</PresentationFormat>
  <Paragraphs>75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Office Theme</vt:lpstr>
      <vt:lpstr>Methods</vt:lpstr>
      <vt:lpstr>Today’s Agenda</vt:lpstr>
      <vt:lpstr>Regression Discontinuity Design</vt:lpstr>
      <vt:lpstr>A brief history</vt:lpstr>
      <vt:lpstr>Why RDD and why now?</vt:lpstr>
      <vt:lpstr>Elements of RDD</vt:lpstr>
      <vt:lpstr>LATE</vt:lpstr>
      <vt:lpstr>Always include this picture</vt:lpstr>
      <vt:lpstr>Another picture</vt:lpstr>
      <vt:lpstr>Data requirements</vt:lpstr>
      <vt:lpstr>Two types of RD Design</vt:lpstr>
      <vt:lpstr>Continuity</vt:lpstr>
      <vt:lpstr>Estimation: Sharp RD</vt:lpstr>
      <vt:lpstr>Estimation: Fuzzy RD</vt:lpstr>
      <vt:lpstr>Identification Challenges</vt:lpstr>
      <vt:lpstr>McCrary Test</vt:lpstr>
      <vt:lpstr>Covariate Balance</vt:lpstr>
      <vt:lpstr>Methods Time</vt:lpstr>
      <vt:lpstr>Canvas Survey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Adler, Elizabeth</dc:creator>
  <cp:lastModifiedBy>Microsoft Office User</cp:lastModifiedBy>
  <cp:revision>14</cp:revision>
  <dcterms:created xsi:type="dcterms:W3CDTF">2021-09-27T18:16:17Z</dcterms:created>
  <dcterms:modified xsi:type="dcterms:W3CDTF">2021-09-28T15:59:44Z</dcterms:modified>
</cp:coreProperties>
</file>